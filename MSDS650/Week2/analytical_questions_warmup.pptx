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6327"/>
  </p:normalViewPr>
  <p:slideViewPr>
    <p:cSldViewPr snapToGrid="0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lson, Ksenia" userId="fd2444b1-f318-4417-b261-dc438723ad11" providerId="ADAL" clId="{4EAE55F8-CC77-4926-A36F-6760A553BF1E}"/>
    <pc:docChg chg="custSel modSld">
      <pc:chgData name="Polson, Ksenia" userId="fd2444b1-f318-4417-b261-dc438723ad11" providerId="ADAL" clId="{4EAE55F8-CC77-4926-A36F-6760A553BF1E}" dt="2026-03-11T16:51:59.668" v="2" actId="27636"/>
      <pc:docMkLst>
        <pc:docMk/>
      </pc:docMkLst>
      <pc:sldChg chg="modSp mod">
        <pc:chgData name="Polson, Ksenia" userId="fd2444b1-f318-4417-b261-dc438723ad11" providerId="ADAL" clId="{4EAE55F8-CC77-4926-A36F-6760A553BF1E}" dt="2026-03-11T16:51:59.668" v="2" actId="27636"/>
        <pc:sldMkLst>
          <pc:docMk/>
          <pc:sldMk cId="2189129871" sldId="257"/>
        </pc:sldMkLst>
        <pc:spChg chg="mod">
          <ac:chgData name="Polson, Ksenia" userId="fd2444b1-f318-4417-b261-dc438723ad11" providerId="ADAL" clId="{4EAE55F8-CC77-4926-A36F-6760A553BF1E}" dt="2026-03-11T16:51:59.668" v="2" actId="27636"/>
          <ac:spMkLst>
            <pc:docMk/>
            <pc:sldMk cId="2189129871" sldId="257"/>
            <ac:spMk id="2" creationId="{83AAE66E-CE8C-6D59-D1BD-1730BC23612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11808" y="3428998"/>
            <a:ext cx="5518066" cy="2268559"/>
          </a:xfrm>
        </p:spPr>
        <p:txBody>
          <a:bodyPr anchor="t">
            <a:normAutofit/>
          </a:bodyPr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2274" y="2268786"/>
            <a:ext cx="5357600" cy="1160213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19B-085F-1341-A7C8-A03452580A1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Ins="45720"/>
          <a:lstStyle/>
          <a:p>
            <a:fld id="{2EF0B9E7-683E-0548-A035-E3BF2C3C74B4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289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19B-085F-1341-A7C8-A03452580A1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B9E7-683E-0548-A035-E3BF2C3C74B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2194943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0065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5" name="Rectangle 2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TextBox 10"/>
          <p:cNvSpPr txBox="1"/>
          <p:nvPr/>
        </p:nvSpPr>
        <p:spPr>
          <a:xfrm>
            <a:off x="2191843" y="296258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3147254"/>
            <a:ext cx="7956560" cy="1424746"/>
          </a:xfrm>
        </p:spPr>
        <p:txBody>
          <a:bodyPr anchor="t">
            <a:normAutofit/>
          </a:bodyPr>
          <a:lstStyle>
            <a:lvl1pPr algn="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968" y="2268786"/>
            <a:ext cx="7791931" cy="878468"/>
          </a:xfrm>
        </p:spPr>
        <p:txBody>
          <a:bodyPr tIns="0" anchor="b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19B-085F-1341-A7C8-A03452580A1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B9E7-683E-0548-A035-E3BF2C3C7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768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7" name="Rectangle 26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7"/>
            <a:ext cx="7950984" cy="10817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05374" y="2052116"/>
            <a:ext cx="3891960" cy="3997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66636" y="2052114"/>
            <a:ext cx="3894222" cy="39978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19B-085F-1341-A7C8-A03452580A1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B9E7-683E-0548-A035-E3BF2C3C74B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2196172" y="641223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2346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TextBox 11"/>
          <p:cNvSpPr txBox="1"/>
          <p:nvPr/>
        </p:nvSpPr>
        <p:spPr>
          <a:xfrm>
            <a:off x="2193650" y="636424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9873" y="805818"/>
            <a:ext cx="7956560" cy="107834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09285" y="2052115"/>
            <a:ext cx="3896467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9285" y="2851331"/>
            <a:ext cx="3893623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66634" y="2052115"/>
            <a:ext cx="3899798" cy="713818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none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66635" y="2851331"/>
            <a:ext cx="3899798" cy="307143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19B-085F-1341-A7C8-A03452580A1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B9E7-683E-0548-A035-E3BF2C3C7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72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19B-085F-1341-A7C8-A03452580A1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B9E7-683E-0548-A035-E3BF2C3C74B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196172" y="641226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774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19B-085F-1341-A7C8-A03452580A1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B9E7-683E-0548-A035-E3BF2C3C7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771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TextBox 9"/>
          <p:cNvSpPr txBox="1"/>
          <p:nvPr/>
        </p:nvSpPr>
        <p:spPr>
          <a:xfrm>
            <a:off x="1554154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0323" y="1282451"/>
            <a:ext cx="2664361" cy="1903241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20154" y="805818"/>
            <a:ext cx="5446278" cy="52441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6154"/>
            <a:ext cx="2664361" cy="2386397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19B-085F-1341-A7C8-A03452580A1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B9E7-683E-0548-A035-E3BF2C3C7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599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0" name="Rectangle 19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47062" y="3229"/>
            <a:ext cx="4629734" cy="6858000"/>
          </a:xfrm>
          <a:solidFill>
            <a:schemeClr val="tx1">
              <a:alpha val="10000"/>
            </a:schemeClr>
          </a:solidFill>
          <a:ln w="9525" cap="sq">
            <a:noFill/>
            <a:miter lim="800000"/>
          </a:ln>
          <a:effectLst/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554686" y="1127550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1241" y="1282452"/>
            <a:ext cx="3970986" cy="1900473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0322" y="3182928"/>
            <a:ext cx="3971874" cy="2386394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19B-085F-1341-A7C8-A03452580A1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B9E7-683E-0548-A035-E3BF2C3C7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018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>
            <a:off x="2194236" y="641225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4091" cy="107722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19B-085F-1341-A7C8-A03452580A1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B9E7-683E-0548-A035-E3BF2C3C7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5400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004479" y="0"/>
            <a:ext cx="10372316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1377328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extBox 8"/>
          <p:cNvSpPr txBox="1"/>
          <p:nvPr/>
        </p:nvSpPr>
        <p:spPr>
          <a:xfrm rot="5400000">
            <a:off x="10337141" y="416061"/>
            <a:ext cx="41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10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39380" y="805818"/>
            <a:ext cx="1326519" cy="5244126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08751" y="970410"/>
            <a:ext cx="6466903" cy="50795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AAC19B-085F-1341-A7C8-A03452580A1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F0B9E7-683E-0548-A035-E3BF2C3C74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577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11808" y="808056"/>
            <a:ext cx="7958331" cy="107722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773599" y="2052116"/>
            <a:ext cx="7796540" cy="3997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-810065" y="5270604"/>
            <a:ext cx="2662729" cy="182880"/>
          </a:xfrm>
          <a:prstGeom prst="rect">
            <a:avLst/>
          </a:prstGeom>
        </p:spPr>
        <p:txBody>
          <a:bodyPr vert="horz" lIns="91440" tIns="18288" rIns="91440" bIns="45720" rtlCol="0" anchor="t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E1AAC19B-085F-1341-A7C8-A03452580A15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-2237130" y="3661144"/>
            <a:ext cx="5885352" cy="179176"/>
          </a:xfrm>
          <a:prstGeom prst="rect">
            <a:avLst/>
          </a:prstGeom>
        </p:spPr>
        <p:txBody>
          <a:bodyPr vert="horz" lIns="91440" tIns="45720" rIns="91440" bIns="18288" rtlCol="0" anchor="b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8407" y="164592"/>
            <a:ext cx="636727" cy="322851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F0B9E7-683E-0548-A035-E3BF2C3C74B4}" type="slidenum">
              <a:rPr lang="en-US" smtClean="0"/>
              <a:t>‹#›</a:t>
            </a:fld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6761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34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120000"/>
        </a:lnSpc>
        <a:spcBef>
          <a:spcPts val="10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953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588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709738" indent="-33813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173288" indent="-34448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642616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3108960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575304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4041648" indent="-338328" algn="l" defTabSz="914400" rtl="0" eaLnBrk="1" latinLnBrk="0" hangingPunct="1">
        <a:lnSpc>
          <a:spcPct val="120000"/>
        </a:lnSpc>
        <a:spcBef>
          <a:spcPts val="500"/>
        </a:spcBef>
        <a:spcAft>
          <a:spcPts val="600"/>
        </a:spcAft>
        <a:buClr>
          <a:schemeClr val="accent6"/>
        </a:buClr>
        <a:buSzPct val="90000"/>
        <a:buFont typeface="Wingdings" panose="05000000000000000000" pitchFamily="2" charset="2"/>
        <a:buChar char="§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9C61909-1D17-7B79-217A-CF0DB65694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800" dirty="0">
                <a:latin typeface="Aparajita" panose="02020603050405020304" pitchFamily="18" charset="0"/>
                <a:cs typeface="Aparajita" panose="02020603050405020304" pitchFamily="18" charset="0"/>
              </a:rPr>
              <a:t>Week2 Warmup Exercise</a:t>
            </a:r>
          </a:p>
        </p:txBody>
      </p:sp>
    </p:spTree>
    <p:extLst>
      <p:ext uri="{BB962C8B-B14F-4D97-AF65-F5344CB8AC3E}">
        <p14:creationId xmlns:p14="http://schemas.microsoft.com/office/powerpoint/2010/main" val="1032517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3DBBA26C-89C3-411F-9753-606A413F8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EAD2215-6311-4D1C-B6B5-F57CB6BFC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7BA5DE79-30D1-4A10-8DB9-0A6E523A97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ABD0D63-D23F-4AE7-8270-4185EF9C1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2168E9E-94E9-4BE3-B88C-C8A468117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07533" y="0"/>
            <a:ext cx="7934348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2107AC1-AA0D-4097-B03D-FD3C632AB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41881" y="0"/>
            <a:ext cx="27432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C8D231A-EC46-4736-B00F-76D307082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282" y="3262852"/>
            <a:ext cx="415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sz="2400" dirty="0">
                <a:solidFill>
                  <a:schemeClr val="accent6"/>
                </a:solidFill>
                <a:latin typeface="Wingdings 3" panose="05040102010807070707" pitchFamily="18" charset="2"/>
              </a:rPr>
              <a:t>z</a:t>
            </a:r>
            <a:endParaRPr lang="en-US" sz="2400" dirty="0">
              <a:solidFill>
                <a:schemeClr val="accent6"/>
              </a:solidFill>
              <a:latin typeface="MS Shell Dlg 2" panose="020B0604030504040204" pitchFamily="34" charset="0"/>
            </a:endParaRPr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441B7737-E3D8-47F4-8B54-7529C7A83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B8A17B2-9670-43B8-BE40-4682F8D29A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gradFill flip="none" rotWithShape="1">
            <a:gsLst>
              <a:gs pos="100000">
                <a:schemeClr val="tx2">
                  <a:lumMod val="25000"/>
                  <a:alpha val="10000"/>
                </a:schemeClr>
              </a:gs>
              <a:gs pos="0">
                <a:schemeClr val="bg2">
                  <a:lumMod val="75000"/>
                  <a:lumOff val="25000"/>
                  <a:alpha val="7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2A60B230-846B-4625-A8CA-D35FEBA73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794" y="2105202"/>
            <a:ext cx="9360205" cy="4752798"/>
          </a:xfrm>
          <a:prstGeom prst="rect">
            <a:avLst/>
          </a:prstGeom>
          <a:noFill/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185CF21-0594-48C0-9F3E-254D6BCE9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57" name="Rectangle 56">
            <a:extLst>
              <a:ext uri="{FF2B5EF4-FFF2-40B4-BE49-F238E27FC236}">
                <a16:creationId xmlns:a16="http://schemas.microsoft.com/office/drawing/2014/main" id="{AC1E939A-6A69-42AE-8471-3AD3A74AD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542" y="0"/>
            <a:ext cx="11236326" cy="685800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AAE66E-CE8C-6D59-D1BD-1730BC236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770" y="1134409"/>
            <a:ext cx="7654623" cy="387577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Select a presenter for your group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For each of your analytical questions, fill out the corresponding slide. 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A sample has been provided for you.</a:t>
            </a: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b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</a:br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Once complete, update the filename for this pptx to include the first name of your group’s presenter.</a:t>
            </a:r>
            <a:br>
              <a:rPr lang="en-US" sz="2800">
                <a:latin typeface="Aparajita" panose="02020603050405020304" pitchFamily="18" charset="0"/>
                <a:cs typeface="Aparajita" panose="02020603050405020304" pitchFamily="18" charset="0"/>
              </a:rPr>
            </a:br>
            <a:endParaRPr lang="en-US" sz="2800" dirty="0">
              <a:latin typeface="Aparajita" panose="02020603050405020304" pitchFamily="18" charset="0"/>
              <a:cs typeface="Aparajita" panose="02020603050405020304" pitchFamily="18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A0B5529D-5CAA-4BF2-B5C9-34705E766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59909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1" name="Right Triangle 60">
            <a:extLst>
              <a:ext uri="{FF2B5EF4-FFF2-40B4-BE49-F238E27FC236}">
                <a16:creationId xmlns:a16="http://schemas.microsoft.com/office/drawing/2014/main" id="{F793961F-503F-434A-880A-EA44EB427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411092" y="1134409"/>
            <a:ext cx="239869" cy="239869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129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8B8BFF-ABC6-4302-9767-D2ADEE381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F431FD-989C-4F7B-9EF1-BDED51AED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B17FFD2-DBC7-4ABB-B2A0-7E18EC1B8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FFF3F7-4395-4F19-BC12-8940796BE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806DFD-E192-42CC-B190-3C4C95B8F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5906" y="0"/>
            <a:ext cx="10906093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8A103-F1C4-0993-16CD-FB4CE85BB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9603" y="380672"/>
            <a:ext cx="8736928" cy="427384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200" dirty="0">
                <a:solidFill>
                  <a:schemeClr val="tx2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Sample Analytical Question – for the movie lens dataset in week1.</a:t>
            </a: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0BFD2628-8E1E-4A9C-8CC0-A0433268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809734" y="808056"/>
            <a:ext cx="239869" cy="239869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DAE048-BF8A-4A95-8DBC-D3A926B94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71960" y="0"/>
            <a:ext cx="32004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F22C4-784D-5134-892F-4529453E9972}"/>
              </a:ext>
            </a:extLst>
          </p:cNvPr>
          <p:cNvSpPr txBox="1"/>
          <p:nvPr/>
        </p:nvSpPr>
        <p:spPr>
          <a:xfrm>
            <a:off x="2049603" y="1235440"/>
            <a:ext cx="73450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Analytical Question:</a:t>
            </a:r>
          </a:p>
          <a:p>
            <a:r>
              <a:rPr 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Did adults or children submit more ratings?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8CF86-4D3C-8404-8DC5-2FDDD641E9C5}"/>
              </a:ext>
            </a:extLst>
          </p:cNvPr>
          <p:cNvSpPr txBox="1"/>
          <p:nvPr/>
        </p:nvSpPr>
        <p:spPr>
          <a:xfrm>
            <a:off x="2093189" y="2554357"/>
            <a:ext cx="846216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Overview of Analysis Steps</a:t>
            </a:r>
          </a:p>
          <a:p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1) Created a new feature, </a:t>
            </a:r>
            <a:r>
              <a:rPr lang="en-US" sz="2000" dirty="0" err="1">
                <a:latin typeface="Aparajita" panose="02020603050405020304" pitchFamily="18" charset="0"/>
                <a:cs typeface="Aparajita" panose="02020603050405020304" pitchFamily="18" charset="0"/>
              </a:rPr>
              <a:t>age_type</a:t>
            </a:r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, to signify adult vs child.</a:t>
            </a:r>
          </a:p>
          <a:p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	age&gt;= 18 </a:t>
            </a:r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  <a:sym typeface="Wingdings" pitchFamily="2" charset="2"/>
              </a:rPr>
              <a:t> adult, else child</a:t>
            </a:r>
          </a:p>
          <a:p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  <a:sym typeface="Wingdings" pitchFamily="2" charset="2"/>
              </a:rPr>
              <a:t>2) </a:t>
            </a:r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 Used </a:t>
            </a:r>
            <a:r>
              <a:rPr lang="en-US" sz="2000" dirty="0" err="1">
                <a:latin typeface="Aparajita" panose="02020603050405020304" pitchFamily="18" charset="0"/>
                <a:cs typeface="Aparajita" panose="02020603050405020304" pitchFamily="18" charset="0"/>
              </a:rPr>
              <a:t>groupby</a:t>
            </a:r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 on the </a:t>
            </a:r>
            <a:r>
              <a:rPr lang="en-US" sz="2000" dirty="0" err="1">
                <a:latin typeface="Aparajita" panose="02020603050405020304" pitchFamily="18" charset="0"/>
                <a:cs typeface="Aparajita" panose="02020603050405020304" pitchFamily="18" charset="0"/>
              </a:rPr>
              <a:t>age_type</a:t>
            </a:r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 feature to count the number of adult and child ratings.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F5DEA-E6BB-8E02-8DDB-2795BEAFDD87}"/>
              </a:ext>
            </a:extLst>
          </p:cNvPr>
          <p:cNvSpPr txBox="1"/>
          <p:nvPr/>
        </p:nvSpPr>
        <p:spPr>
          <a:xfrm>
            <a:off x="2093189" y="4359091"/>
            <a:ext cx="84621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  <a:p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Adults provided 972,998 ratings while child submitted 27,211.</a:t>
            </a:r>
          </a:p>
        </p:txBody>
      </p:sp>
    </p:spTree>
    <p:extLst>
      <p:ext uri="{BB962C8B-B14F-4D97-AF65-F5344CB8AC3E}">
        <p14:creationId xmlns:p14="http://schemas.microsoft.com/office/powerpoint/2010/main" val="1675978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8B8BFF-ABC6-4302-9767-D2ADEE381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F431FD-989C-4F7B-9EF1-BDED51AED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B17FFD2-DBC7-4ABB-B2A0-7E18EC1B8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FFF3F7-4395-4F19-BC12-8940796BE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806DFD-E192-42CC-B190-3C4C95B8F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5906" y="0"/>
            <a:ext cx="10906093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8A103-F1C4-0993-16CD-FB4CE85BB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9603" y="380672"/>
            <a:ext cx="8736928" cy="427384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200" dirty="0">
                <a:solidFill>
                  <a:schemeClr val="tx2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Analytical Question 1 </a:t>
            </a: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0BFD2628-8E1E-4A9C-8CC0-A0433268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809734" y="808056"/>
            <a:ext cx="239869" cy="239869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DAE048-BF8A-4A95-8DBC-D3A926B94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71960" y="0"/>
            <a:ext cx="32004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F22C4-784D-5134-892F-4529453E9972}"/>
              </a:ext>
            </a:extLst>
          </p:cNvPr>
          <p:cNvSpPr txBox="1"/>
          <p:nvPr/>
        </p:nvSpPr>
        <p:spPr>
          <a:xfrm>
            <a:off x="2049603" y="1235440"/>
            <a:ext cx="73450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Analytical Question:</a:t>
            </a:r>
          </a:p>
          <a:p>
            <a:r>
              <a:rPr 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&lt;Insert your question here&gt;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8CF86-4D3C-8404-8DC5-2FDDD641E9C5}"/>
              </a:ext>
            </a:extLst>
          </p:cNvPr>
          <p:cNvSpPr txBox="1"/>
          <p:nvPr/>
        </p:nvSpPr>
        <p:spPr>
          <a:xfrm>
            <a:off x="1932621" y="2258767"/>
            <a:ext cx="84621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Overview of Analysis Steps</a:t>
            </a:r>
          </a:p>
          <a:p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&lt;Summarize your analysis steps&gt;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F5DEA-E6BB-8E02-8DDB-2795BEAFDD87}"/>
              </a:ext>
            </a:extLst>
          </p:cNvPr>
          <p:cNvSpPr txBox="1"/>
          <p:nvPr/>
        </p:nvSpPr>
        <p:spPr>
          <a:xfrm>
            <a:off x="1926216" y="5622560"/>
            <a:ext cx="84621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  <a:p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&lt;Provide your results in a single sentence&gt;</a:t>
            </a:r>
          </a:p>
        </p:txBody>
      </p:sp>
    </p:spTree>
    <p:extLst>
      <p:ext uri="{BB962C8B-B14F-4D97-AF65-F5344CB8AC3E}">
        <p14:creationId xmlns:p14="http://schemas.microsoft.com/office/powerpoint/2010/main" val="24770292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8B8BFF-ABC6-4302-9767-D2ADEE381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F431FD-989C-4F7B-9EF1-BDED51AED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B17FFD2-DBC7-4ABB-B2A0-7E18EC1B8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FFF3F7-4395-4F19-BC12-8940796BE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806DFD-E192-42CC-B190-3C4C95B8F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5906" y="0"/>
            <a:ext cx="10906093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8A103-F1C4-0993-16CD-FB4CE85BB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9603" y="380672"/>
            <a:ext cx="8736928" cy="427384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200" dirty="0">
                <a:solidFill>
                  <a:schemeClr val="tx2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Analytical Question 2 </a:t>
            </a: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0BFD2628-8E1E-4A9C-8CC0-A0433268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809734" y="808056"/>
            <a:ext cx="239869" cy="239869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DAE048-BF8A-4A95-8DBC-D3A926B94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71960" y="0"/>
            <a:ext cx="32004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F22C4-784D-5134-892F-4529453E9972}"/>
              </a:ext>
            </a:extLst>
          </p:cNvPr>
          <p:cNvSpPr txBox="1"/>
          <p:nvPr/>
        </p:nvSpPr>
        <p:spPr>
          <a:xfrm>
            <a:off x="2049603" y="1235440"/>
            <a:ext cx="73450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Analytical Question:</a:t>
            </a:r>
          </a:p>
          <a:p>
            <a:r>
              <a:rPr 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&lt;Insert your question here&gt;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8CF86-4D3C-8404-8DC5-2FDDD641E9C5}"/>
              </a:ext>
            </a:extLst>
          </p:cNvPr>
          <p:cNvSpPr txBox="1"/>
          <p:nvPr/>
        </p:nvSpPr>
        <p:spPr>
          <a:xfrm>
            <a:off x="1932621" y="2258767"/>
            <a:ext cx="84621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Overview of Analysis Steps</a:t>
            </a:r>
          </a:p>
          <a:p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&lt;Summarize your analysis steps&gt;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F5DEA-E6BB-8E02-8DDB-2795BEAFDD87}"/>
              </a:ext>
            </a:extLst>
          </p:cNvPr>
          <p:cNvSpPr txBox="1"/>
          <p:nvPr/>
        </p:nvSpPr>
        <p:spPr>
          <a:xfrm>
            <a:off x="1926216" y="5622560"/>
            <a:ext cx="84621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  <a:p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&lt;Provide your results in a single sentence&gt;</a:t>
            </a:r>
          </a:p>
        </p:txBody>
      </p:sp>
    </p:spTree>
    <p:extLst>
      <p:ext uri="{BB962C8B-B14F-4D97-AF65-F5344CB8AC3E}">
        <p14:creationId xmlns:p14="http://schemas.microsoft.com/office/powerpoint/2010/main" val="1264882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D8B8BFF-ABC6-4302-9767-D2ADEE381F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F431FD-989C-4F7B-9EF1-BDED51AED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9867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BB17FFD2-DBC7-4ABB-B2A0-7E18EC1B80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6417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FFF3F7-4395-4F19-BC12-8940796BE3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62042" y="0"/>
            <a:ext cx="45719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806DFD-E192-42CC-B190-3C4C95B8FF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85906" y="0"/>
            <a:ext cx="10906093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48A103-F1C4-0993-16CD-FB4CE85BB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9603" y="380672"/>
            <a:ext cx="8736928" cy="427384"/>
          </a:xfrm>
        </p:spPr>
        <p:txBody>
          <a:bodyPr anchor="t">
            <a:normAutofit fontScale="90000"/>
          </a:bodyPr>
          <a:lstStyle/>
          <a:p>
            <a:pPr algn="l"/>
            <a:r>
              <a:rPr lang="en-US" sz="3200" dirty="0">
                <a:solidFill>
                  <a:schemeClr val="tx2"/>
                </a:solidFill>
                <a:latin typeface="Aparajita" panose="02020603050405020304" pitchFamily="18" charset="0"/>
                <a:cs typeface="Aparajita" panose="02020603050405020304" pitchFamily="18" charset="0"/>
              </a:rPr>
              <a:t>Analytical Question 3 </a:t>
            </a: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0BFD2628-8E1E-4A9C-8CC0-A043326831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809734" y="808056"/>
            <a:ext cx="239869" cy="239869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DAE048-BF8A-4A95-8DBC-D3A926B94C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71960" y="0"/>
            <a:ext cx="32004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3F22C4-784D-5134-892F-4529453E9972}"/>
              </a:ext>
            </a:extLst>
          </p:cNvPr>
          <p:cNvSpPr txBox="1"/>
          <p:nvPr/>
        </p:nvSpPr>
        <p:spPr>
          <a:xfrm>
            <a:off x="2049603" y="1235440"/>
            <a:ext cx="734501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parajita" panose="02020603050405020304" pitchFamily="18" charset="0"/>
                <a:cs typeface="Aparajita" panose="02020603050405020304" pitchFamily="18" charset="0"/>
              </a:rPr>
              <a:t>Analytical Question:</a:t>
            </a:r>
          </a:p>
          <a:p>
            <a:r>
              <a:rPr 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&lt;Insert your question here&gt;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F8CF86-4D3C-8404-8DC5-2FDDD641E9C5}"/>
              </a:ext>
            </a:extLst>
          </p:cNvPr>
          <p:cNvSpPr txBox="1"/>
          <p:nvPr/>
        </p:nvSpPr>
        <p:spPr>
          <a:xfrm>
            <a:off x="1932621" y="2258767"/>
            <a:ext cx="84621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Overview of Analysis Steps</a:t>
            </a:r>
          </a:p>
          <a:p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&lt;Summarize your analysis steps&gt;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F5DEA-E6BB-8E02-8DDB-2795BEAFDD87}"/>
              </a:ext>
            </a:extLst>
          </p:cNvPr>
          <p:cNvSpPr txBox="1"/>
          <p:nvPr/>
        </p:nvSpPr>
        <p:spPr>
          <a:xfrm>
            <a:off x="1926216" y="5622560"/>
            <a:ext cx="84621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parajita" panose="02020603050405020304" pitchFamily="18" charset="0"/>
                <a:cs typeface="Aparajita" panose="02020603050405020304" pitchFamily="18" charset="0"/>
              </a:rPr>
              <a:t>Results</a:t>
            </a:r>
          </a:p>
          <a:p>
            <a:r>
              <a:rPr lang="en-US" sz="2000" dirty="0">
                <a:latin typeface="Aparajita" panose="02020603050405020304" pitchFamily="18" charset="0"/>
                <a:cs typeface="Aparajita" panose="02020603050405020304" pitchFamily="18" charset="0"/>
              </a:rPr>
              <a:t>&lt;Provide your results in a single sentence&gt;</a:t>
            </a:r>
          </a:p>
        </p:txBody>
      </p:sp>
    </p:spTree>
    <p:extLst>
      <p:ext uri="{BB962C8B-B14F-4D97-AF65-F5344CB8AC3E}">
        <p14:creationId xmlns:p14="http://schemas.microsoft.com/office/powerpoint/2010/main" val="31161117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dison">
  <a:themeElements>
    <a:clrScheme name="Madison">
      <a:dk1>
        <a:sysClr val="windowText" lastClr="000000"/>
      </a:dk1>
      <a:lt1>
        <a:sysClr val="window" lastClr="FFFFFF"/>
      </a:lt1>
      <a:dk2>
        <a:srgbClr val="1F2D29"/>
      </a:dk2>
      <a:lt2>
        <a:srgbClr val="C5FAEB"/>
      </a:lt2>
      <a:accent1>
        <a:srgbClr val="A1D68B"/>
      </a:accent1>
      <a:accent2>
        <a:srgbClr val="5EC795"/>
      </a:accent2>
      <a:accent3>
        <a:srgbClr val="4DADCF"/>
      </a:accent3>
      <a:accent4>
        <a:srgbClr val="CDB756"/>
      </a:accent4>
      <a:accent5>
        <a:srgbClr val="E29C36"/>
      </a:accent5>
      <a:accent6>
        <a:srgbClr val="8EC0C1"/>
      </a:accent6>
      <a:hlink>
        <a:srgbClr val="6D9D9B"/>
      </a:hlink>
      <a:folHlink>
        <a:srgbClr val="6D8583"/>
      </a:folHlink>
    </a:clrScheme>
    <a:fontScheme name="Madison">
      <a:maj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dison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alpha val="88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dison" id="{025CB5FB-2DD3-45EE-B6F0-CC461540EB19}" vid="{6AC10936-2DFC-4054-9ADF-B5E2C5F861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Madison</Template>
  <TotalTime>23</TotalTime>
  <Words>235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Aparajita</vt:lpstr>
      <vt:lpstr>Arial</vt:lpstr>
      <vt:lpstr>MS Shell Dlg 2</vt:lpstr>
      <vt:lpstr>Wingdings</vt:lpstr>
      <vt:lpstr>Wingdings 3</vt:lpstr>
      <vt:lpstr>Madison</vt:lpstr>
      <vt:lpstr>PowerPoint Presentation</vt:lpstr>
      <vt:lpstr>Select a presenter for your group  For each of your analytical questions, fill out the corresponding slide.  A sample has been provided for you.  Once complete, update the filename for this pptx to include the first name of your group’s presenter. </vt:lpstr>
      <vt:lpstr>Sample Analytical Question – for the movie lens dataset in week1.</vt:lpstr>
      <vt:lpstr>Analytical Question 1 </vt:lpstr>
      <vt:lpstr>Analytical Question 2 </vt:lpstr>
      <vt:lpstr>Analytical Question 3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Christy Pearson</dc:creator>
  <cp:lastModifiedBy>Polson, Ksenia</cp:lastModifiedBy>
  <cp:revision>2</cp:revision>
  <dcterms:created xsi:type="dcterms:W3CDTF">2024-03-17T03:22:41Z</dcterms:created>
  <dcterms:modified xsi:type="dcterms:W3CDTF">2026-03-11T16:52:02Z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6de1d5b-8b4b-4e4e-a8a1-d2976158103f_Enabled">
    <vt:lpwstr>true</vt:lpwstr>
  </property>
  <property fmtid="{D5CDD505-2E9C-101B-9397-08002B2CF9AE}" pid="3" name="MSIP_Label_a6de1d5b-8b4b-4e4e-a8a1-d2976158103f_SetDate">
    <vt:lpwstr>2025-03-18T18:40:07Z</vt:lpwstr>
  </property>
  <property fmtid="{D5CDD505-2E9C-101B-9397-08002B2CF9AE}" pid="4" name="MSIP_Label_a6de1d5b-8b4b-4e4e-a8a1-d2976158103f_Method">
    <vt:lpwstr>Standard</vt:lpwstr>
  </property>
  <property fmtid="{D5CDD505-2E9C-101B-9397-08002B2CF9AE}" pid="5" name="MSIP_Label_a6de1d5b-8b4b-4e4e-a8a1-d2976158103f_Name">
    <vt:lpwstr>defa4170-0d19-0005-0004-bc88714345d2</vt:lpwstr>
  </property>
  <property fmtid="{D5CDD505-2E9C-101B-9397-08002B2CF9AE}" pid="6" name="MSIP_Label_a6de1d5b-8b4b-4e4e-a8a1-d2976158103f_SiteId">
    <vt:lpwstr>ecd4c5d9-c2fe-4522-afd1-f0d20755d9d7</vt:lpwstr>
  </property>
  <property fmtid="{D5CDD505-2E9C-101B-9397-08002B2CF9AE}" pid="7" name="MSIP_Label_a6de1d5b-8b4b-4e4e-a8a1-d2976158103f_ActionId">
    <vt:lpwstr>f90adc0a-aa45-49db-b7b3-a087c9679cdf</vt:lpwstr>
  </property>
  <property fmtid="{D5CDD505-2E9C-101B-9397-08002B2CF9AE}" pid="8" name="MSIP_Label_a6de1d5b-8b4b-4e4e-a8a1-d2976158103f_ContentBits">
    <vt:lpwstr>0</vt:lpwstr>
  </property>
  <property fmtid="{D5CDD505-2E9C-101B-9397-08002B2CF9AE}" pid="9" name="MSIP_Label_a6de1d5b-8b4b-4e4e-a8a1-d2976158103f_Tag">
    <vt:lpwstr>10, 3, 0, 1</vt:lpwstr>
  </property>
</Properties>
</file>